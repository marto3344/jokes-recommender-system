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8" r:id="rId7"/>
    <p:sldId id="269" r:id="rId8"/>
    <p:sldId id="265" r:id="rId9"/>
    <p:sldId id="270" r:id="rId10"/>
    <p:sldId id="262" r:id="rId11"/>
    <p:sldId id="263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5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A02A-064C-CD69-AB9F-93665553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C8D26-6A17-92F1-75C1-1C3891DB0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9FB86-CD29-E7D4-DD7A-E94006E9A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FDCB2-DEFB-1739-0158-1C30E6C0A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03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EB0B-4805-7731-6665-C61A7FA12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7EA40-0541-18AE-8C6A-6347FD435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D6163-BD20-6442-1938-7435F93E2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1656A-C9DF-6992-32F2-D0F3C8D8A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3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37C8B-5E04-8580-B653-A129274D2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EDB99-7393-8E10-A47A-41844E0A0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D3431-FDD9-3B9F-14CA-77538099B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7D773-B49A-6CF5-8F4F-B8E06CC8A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07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904A-F62D-DABE-E9AE-63C9FA1B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26825-5E2D-CFBF-7BDC-4BA876318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ABCAE-4A3F-966C-419F-B446BE7FA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C4E5D-A244-3C45-9D82-EE814EB2D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5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B8048-9E16-64F1-7733-DB4455BC6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3C9F8-DA4F-47E7-2B74-CD066CCC3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C4473-E5C1-A571-5CB2-216D764A8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E17DF-682A-BACF-963D-BC148CE49A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53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2118-6F43-604B-F9F5-C72B70E2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63935-03F7-7D69-9F67-581BB3A28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91D26-E1C1-FC86-FF9C-B574CFE76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30064-058E-901B-01D3-D224A7B9C3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44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89212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за </a:t>
            </a: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препоръчване на</a:t>
            </a:r>
            <a:r>
              <a:rPr lang="bg-BG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шеги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8268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Анализ, оптимизация и сравнение на модели за колаборативно филтриране (SVD)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1658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bg-BG" sz="160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Мартин Стоянов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8472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по "</a:t>
            </a:r>
            <a:r>
              <a:rPr lang="ru-RU" sz="14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 самообучение и извличане на закономерности от данни, зимен семестър 2025/2026</a:t>
            </a:r>
            <a:r>
              <a:rPr lang="en-US" sz="14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 и цел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4071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Хуморът е изключително 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субективна материя. </a:t>
            </a:r>
            <a:r>
              <a:rPr lang="bg-BG" sz="15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Системите за препоръки са изключително важни за съвременните приложения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233095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Изграждане </a:t>
            </a:r>
            <a:r>
              <a:rPr lang="en-US" sz="15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 </a:t>
            </a:r>
            <a:r>
              <a:rPr lang="bg-BG" sz="15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ситема</a:t>
            </a:r>
            <a:r>
              <a:rPr lang="en-US" sz="15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препоръки </a:t>
            </a:r>
            <a:r>
              <a:rPr lang="en-US" sz="15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чрез </a:t>
            </a:r>
            <a:r>
              <a:rPr lang="bg-BG" sz="15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различни техники за</a:t>
            </a:r>
            <a:r>
              <a:rPr lang="en-US" sz="15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Content-Based Filtering </a:t>
            </a:r>
            <a:r>
              <a:rPr lang="bg-BG" sz="15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 </a:t>
            </a:r>
            <a:r>
              <a:rPr lang="en-US" sz="15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от данни Jester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01168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201168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bg-BG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Шеги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01168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bg-BG" sz="130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Рядкост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51760" y="2286000"/>
            <a:ext cx="201168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 до +10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2788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Специфики на данните: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Set: 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Плътно запълнен набор </a:t>
            </a: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8 </a:t>
            </a:r>
            <a:r>
              <a:rPr lang="bg-BG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шеги</a:t>
            </a: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оценени от почти всички потребители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Скала: 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-10.0 (изобщо не е смешно)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+10.0 (изключително </a:t>
            </a: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смешно)</a:t>
            </a:r>
            <a:endParaRPr lang="bg-BG" sz="130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endParaRPr lang="bg-BG" sz="1300">
              <a:solidFill>
                <a:srgbClr val="2C3E5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97CCDF7-252F-5567-8BAB-0749D10052CD}"/>
              </a:ext>
            </a:extLst>
          </p:cNvPr>
          <p:cNvSpPr/>
          <p:nvPr/>
        </p:nvSpPr>
        <p:spPr>
          <a:xfrm>
            <a:off x="36576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50 692</a:t>
            </a:r>
            <a:endParaRPr lang="en-US" sz="28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553108E4-AFE9-F5AF-D7D5-F76FC9C35A8D}"/>
              </a:ext>
            </a:extLst>
          </p:cNvPr>
          <p:cNvSpPr/>
          <p:nvPr/>
        </p:nvSpPr>
        <p:spPr>
          <a:xfrm>
            <a:off x="365760" y="23846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bg-BG" sz="28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77 %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Изследователски </a:t>
            </a:r>
            <a:r>
              <a:rPr lang="en-US" sz="36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64776" y="3962311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Positivity Bias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4776" y="4286923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Потребителите са склонни да дават по-скоро положителни оценки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3966883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Effect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4286923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</a:t>
            </a:r>
            <a:r>
              <a:rPr lang="bg-BG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ове</a:t>
            </a: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 оценк</a:t>
            </a:r>
            <a:r>
              <a:rPr lang="bg-BG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 </a:t>
            </a:r>
            <a:r>
              <a:rPr lang="bg-BG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-10 </a:t>
            </a: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(екстремни предпочитания</a:t>
            </a:r>
            <a:r>
              <a:rPr lang="bg-BG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някои потребители</a:t>
            </a: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082F69A-7501-1F45-B5B3-B9EAFE72E5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77" t="7868" r="7794"/>
          <a:stretch>
            <a:fillRect/>
          </a:stretch>
        </p:blipFill>
        <p:spPr>
          <a:xfrm>
            <a:off x="4825989" y="1408579"/>
            <a:ext cx="3952251" cy="21163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455F18-097F-08FD-0124-290038E84B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77" t="1691" r="7941"/>
          <a:stretch>
            <a:fillRect/>
          </a:stretch>
        </p:blipFill>
        <p:spPr>
          <a:xfrm>
            <a:off x="457200" y="1455724"/>
            <a:ext cx="3615239" cy="20691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00D2-EB4A-63C2-729D-AFF829A46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9A6B7E-0F45-85CF-B944-A9333E406241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Изследователски </a:t>
            </a:r>
            <a:r>
              <a:rPr lang="en-US" sz="36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8C6CE6-1741-989F-59AF-AA552BEA56AB}"/>
              </a:ext>
            </a:extLst>
          </p:cNvPr>
          <p:cNvSpPr/>
          <p:nvPr/>
        </p:nvSpPr>
        <p:spPr>
          <a:xfrm>
            <a:off x="457200" y="914400"/>
            <a:ext cx="548640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62814CC-CDD2-CA43-0084-170270824063}"/>
              </a:ext>
            </a:extLst>
          </p:cNvPr>
          <p:cNvSpPr/>
          <p:nvPr/>
        </p:nvSpPr>
        <p:spPr>
          <a:xfrm>
            <a:off x="571500" y="414035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Корелация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E15ED76-F6E1-877B-833E-5F0EE42E5988}"/>
              </a:ext>
            </a:extLst>
          </p:cNvPr>
          <p:cNvSpPr/>
          <p:nvPr/>
        </p:nvSpPr>
        <p:spPr>
          <a:xfrm>
            <a:off x="457200" y="4299025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Открита е зависимост между дължината на текста и по-високата средна оценка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5AB449F-5007-5C04-3A9E-44B0CAECFB1C}"/>
              </a:ext>
            </a:extLst>
          </p:cNvPr>
          <p:cNvSpPr/>
          <p:nvPr/>
        </p:nvSpPr>
        <p:spPr>
          <a:xfrm>
            <a:off x="5029200" y="3978985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Поляризация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2743D1C-EA37-BD51-AC71-AD6AC2EA2F10}"/>
              </a:ext>
            </a:extLst>
          </p:cNvPr>
          <p:cNvSpPr/>
          <p:nvPr/>
        </p:nvSpPr>
        <p:spPr>
          <a:xfrm>
            <a:off x="5029200" y="4250585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300"/>
              <a:t>Шегите имат високо стандартно отклонение. Няма шега която да е „универсална“, т.е.  да се харесва от всички или да не се харесва от всички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6063F-6636-A404-10A9-0C91AE27C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24" y="1110728"/>
            <a:ext cx="2868257" cy="2868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3B7848-457E-C983-7858-FE150DFDB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1039996"/>
            <a:ext cx="4536588" cy="272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00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9DFA-A315-6A3A-94C7-EFBC37BFC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D4C62F-195E-4A6F-B040-F8BEEECE400B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Content-Based Filtering 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70A55A1-7A40-A486-C3E1-9F5D516D76A7}"/>
              </a:ext>
            </a:extLst>
          </p:cNvPr>
          <p:cNvSpPr/>
          <p:nvPr/>
        </p:nvSpPr>
        <p:spPr>
          <a:xfrm>
            <a:off x="457200" y="914400"/>
            <a:ext cx="548640" cy="73152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675E6E-B154-CA09-3BA7-6557F9799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64024"/>
            <a:ext cx="5584291" cy="348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03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FC4FB-2CD3-BC74-22E0-A9F4C0DB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ABFA0E-7E82-B3B7-CE4B-E35D7545F2BE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Latent Semantic Analysis 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68E66D-5C27-BB0C-2B4C-88195918F46D}"/>
              </a:ext>
            </a:extLst>
          </p:cNvPr>
          <p:cNvSpPr/>
          <p:nvPr/>
        </p:nvSpPr>
        <p:spPr>
          <a:xfrm>
            <a:off x="457200" y="914400"/>
            <a:ext cx="548640" cy="73152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94010F-0EA1-AC47-B0C1-6BA9626B2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669" y="1126455"/>
            <a:ext cx="5294120" cy="34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71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B0E9C-04D0-F836-24AC-ACE0F8050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82931A-2571-315D-8828-921B7BCDDCE6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3600" b="1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Базов </a:t>
            </a:r>
            <a:r>
              <a:rPr lang="en-US" sz="3600" b="1">
                <a:solidFill>
                  <a:srgbClr val="065A82"/>
                </a:solidFill>
                <a:latin typeface="Calibri" pitchFamily="34" charset="0"/>
                <a:cs typeface="Calibri" pitchFamily="34" charset="-120"/>
              </a:rPr>
              <a:t>Collaborative Filtering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3634B5-51EE-8BE5-2F75-542D7978EEC4}"/>
              </a:ext>
            </a:extLst>
          </p:cNvPr>
          <p:cNvSpPr/>
          <p:nvPr/>
        </p:nvSpPr>
        <p:spPr>
          <a:xfrm>
            <a:off x="457200" y="914400"/>
            <a:ext cx="548640" cy="73152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9489D0-9A5A-2F47-700C-81CEC8F66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716" y="1129553"/>
            <a:ext cx="5214938" cy="329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36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95235-B44C-38EB-BED9-687D61AF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67E220-7ABA-1FC6-CA14-9DAF6A96B1E5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36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Ролята на нормализацията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63D637-A7A2-5965-67A5-88D121A079C4}"/>
              </a:ext>
            </a:extLst>
          </p:cNvPr>
          <p:cNvSpPr/>
          <p:nvPr/>
        </p:nvSpPr>
        <p:spPr>
          <a:xfrm>
            <a:off x="457200" y="914400"/>
            <a:ext cx="548640" cy="73152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18D399-EC17-A52D-2EB8-5E34705CD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465" y="1019167"/>
            <a:ext cx="4815823" cy="30020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F0955D-50CA-2AA6-22A8-2B1D3B29B53B}"/>
              </a:ext>
            </a:extLst>
          </p:cNvPr>
          <p:cNvSpPr txBox="1"/>
          <p:nvPr/>
        </p:nvSpPr>
        <p:spPr>
          <a:xfrm>
            <a:off x="1192795" y="4217446"/>
            <a:ext cx="5967763" cy="325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000"/>
              </a:lnSpc>
              <a:buNone/>
            </a:pPr>
            <a:r>
              <a:rPr lang="bg-BG" sz="1200">
                <a:solidFill>
                  <a:srgbClr val="2C3E50"/>
                </a:solidFill>
                <a:latin typeface="Calibri" pitchFamily="34" charset="0"/>
                <a:cs typeface="Calibri" pitchFamily="34" charset="-120"/>
              </a:rPr>
              <a:t>Виждаме значително подобрение след като центрираме данните около медианата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60944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между точност и стабилност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79918"/>
            <a:ext cx="3657600" cy="1698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Оптимален брой компоненти</a:t>
            </a: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Tradeoff: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n &gt; 20 тренировъчната грешка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пада драстично (зубрене на шум),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докато тестовата започва да расте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92040" y="1046181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 на модела: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2" y="3433033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</a:t>
            </a: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срещу </a:t>
            </a:r>
            <a:r>
              <a:rPr lang="en-US" sz="14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показа по-голяма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стабилност при висока комплексност,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справяйки се по-добре с екстремните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стойности (-10/+10)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281FDB-7CC2-28F1-4C7F-DC465401C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22" y="1284577"/>
            <a:ext cx="3446481" cy="21484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B799BF-B9DF-9482-736E-44A0604BD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708" y="1361933"/>
            <a:ext cx="3266291" cy="20179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729" y="437029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 и архитектура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9929" y="1542377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 изводи:</a:t>
            </a:r>
            <a:endParaRPr lang="en-US" sz="1600" dirty="0"/>
          </a:p>
          <a:p>
            <a:pPr marL="0" indent="0" algn="l">
              <a:lnSpc>
                <a:spcPts val="1600"/>
              </a:lnSpc>
              <a:buNone/>
            </a:pPr>
            <a:endParaRPr lang="en-US" sz="16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Нормализацията е критична за точността</a:t>
            </a:r>
            <a:endParaRPr lang="bg-BG" sz="16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алгоритъма</a:t>
            </a:r>
            <a:endParaRPr lang="en-US" sz="1600" dirty="0"/>
          </a:p>
          <a:p>
            <a:pPr marL="0" indent="0" algn="l">
              <a:lnSpc>
                <a:spcPts val="1600"/>
              </a:lnSpc>
              <a:buNone/>
            </a:pPr>
            <a:endParaRPr lang="bg-BG" sz="16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латентни фактора 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 достатъчни</a:t>
            </a:r>
            <a:endParaRPr lang="bg-BG" sz="16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описване на 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хумористичните предпочитания</a:t>
            </a:r>
          </a:p>
        </p:txBody>
      </p:sp>
      <p:sp>
        <p:nvSpPr>
          <p:cNvPr id="5" name="Text 3"/>
          <p:cNvSpPr/>
          <p:nvPr/>
        </p:nvSpPr>
        <p:spPr>
          <a:xfrm>
            <a:off x="779929" y="3544645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8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Финална архитектура: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Feed: 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за индивидуални препоръки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Feed: 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за "Още вицове като този"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D42F8-6A8C-BD35-D007-2FF0D1FF9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CE24F3-1667-290B-347C-242D059C367A}"/>
              </a:ext>
            </a:extLst>
          </p:cNvPr>
          <p:cNvSpPr/>
          <p:nvPr/>
        </p:nvSpPr>
        <p:spPr>
          <a:xfrm>
            <a:off x="457200" y="202311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bg-BG" sz="44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Благодаря за вниманието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582026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341</Words>
  <Application>Microsoft Office PowerPoint</Application>
  <PresentationFormat>On-screen Show (16:9)</PresentationFormat>
  <Paragraphs>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за препоръчване на вицове</dc:title>
  <dc:subject>PptxGenJS Presentation</dc:subject>
  <dc:creator>[Вашето име]</dc:creator>
  <cp:lastModifiedBy>Martin Stoyanov</cp:lastModifiedBy>
  <cp:revision>11</cp:revision>
  <dcterms:created xsi:type="dcterms:W3CDTF">2026-02-13T21:55:03Z</dcterms:created>
  <dcterms:modified xsi:type="dcterms:W3CDTF">2026-02-13T22:45:59Z</dcterms:modified>
</cp:coreProperties>
</file>